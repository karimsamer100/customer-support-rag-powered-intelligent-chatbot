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BLEU-like</c:v>
                  </c:pt>
                  <c:pt idx="1">
                    <c:v>ROUGE-L</c:v>
                  </c:pt>
                  <c:pt idx="2">
                    <c:v>Top Similarity</c:v>
                  </c:pt>
                  <c:pt idx="3">
                    <c:v>Retrieval Success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0.512</c:v>
                </c:pt>
                <c:pt idx="1">
                  <c:v>0.821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0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2535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0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E0EF"/>
                </a:solidFill>
              </a:rPr>
              <a:t>DEPI GRADUATION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Customer Support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B4D8"/>
                </a:solidFill>
              </a:rPr>
              <a:t>RAG-Powered Chatbot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Retrieval-Augmented Generation  •  FAISS  •  FastAPI  •  Cloud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Karim Samer Mostafa</a:t>
            </a:r>
            <a:pPr algn="l" indent="0" marL="0">
              <a:buNone/>
            </a:pPr>
            <a:r>
              <a:rPr lang="en-US" sz="1200" dirty="0">
                <a:solidFill>
                  <a:srgbClr val="8DA0B3"/>
                </a:solidFill>
              </a:rPr>
              <a:t>  |  June 2026  |  Instructor: Omnia Ahmed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31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● LIVE DEMO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0E0EF"/>
                </a:solidFill>
              </a:rPr>
              <a:t>railway.app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Why customer support teams struggle with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Slow Response Time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901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0B3"/>
                </a:solidFill>
              </a:rPr>
              <a:t>Repeated questions handled manually, slowing down every ticket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190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 Operational Cost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23560" y="19019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0B3"/>
                </a:solidFill>
              </a:rPr>
              <a:t>Human agents spend hours on questions that have been answered before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649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Inconsistent Answers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547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0B3"/>
                </a:solidFill>
              </a:rPr>
              <a:t>No centralized knowledge means every agent answers differently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46320" y="30175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6499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200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Burnout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623560" y="3547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0B3"/>
                </a:solidFill>
              </a:rPr>
              <a:t>Repetitive, low-value work prevents focus on complex issues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Retrieval-Augmented Generation grounds every answer in real support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600200"/>
            <a:ext cx="530352" cy="530352"/>
          </a:xfrm>
          <a:prstGeom prst="ellipse">
            <a:avLst/>
          </a:prstGeom>
          <a:solidFill>
            <a:srgbClr val="1E3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Question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</a:rPr>
              <a:t>Customer asks via 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2240280"/>
            <a:ext cx="16459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20574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00200"/>
            <a:ext cx="530352" cy="530352"/>
          </a:xfrm>
          <a:prstGeom prst="ellipse">
            <a:avLst/>
          </a:prstGeom>
          <a:solidFill>
            <a:srgbClr val="1E3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Embed Query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0604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</a:rPr>
              <a:t>all-MiniLM-L6-v2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240280"/>
            <a:ext cx="16459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0574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600200"/>
            <a:ext cx="530352" cy="530352"/>
          </a:xfrm>
          <a:prstGeom prst="ellipse">
            <a:avLst/>
          </a:prstGeom>
          <a:solidFill>
            <a:srgbClr val="1E3A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FAISS Search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</a:rPr>
              <a:t>20K indexed cases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240280"/>
            <a:ext cx="16459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05740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12280" y="146304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0A2E3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LLM Generation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03720" y="25786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E0EF"/>
                </a:solidFill>
              </a:rPr>
              <a:t>Grounded answer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071520">
              <a:alpha val="80000"/>
            </a:srgbClr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A0B3"/>
                </a:solidFill>
              </a:rPr>
              <a:t>Dataset: 123K Amazon customer support Q&amp;A pairs  •  FAISS index: 20K rows for demo  •  Fallback handling ensures 100% uptime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587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Traditional chatbots answer from general LLM knowledge. Our system retrieves real past solutions before generating.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REST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Endpoints + validation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</a:rPr>
              <a:t>api.py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496312" y="10515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188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87752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87752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SentenceTransformer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587752" y="2331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D6A0"/>
                </a:solidFill>
              </a:rPr>
              <a:t>embedder.py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626864" y="10515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1887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18304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Retrieve + Generate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718304" y="2331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D166"/>
                </a:solidFill>
              </a:rPr>
              <a:t>rag_pipeline.py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757416" y="105156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1887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48856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Generator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848856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Answer + Fallback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848856" y="2331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9D"/>
                </a:solidFill>
              </a:rPr>
              <a:t>llm_generator.py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36576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0632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7200" y="3584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Metrics + Dashboard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B4D8"/>
                </a:solidFill>
              </a:rPr>
              <a:t>monitoring.py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2496312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832" y="306324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587752" y="3584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2587752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BLEU + ROUGE-L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258775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6D6A0"/>
                </a:solidFill>
              </a:rPr>
              <a:t>evaluate_rag.py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4626864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8384" y="306324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18304" y="3584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Re-indexing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4718304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Rebuild FAISS index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4718304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D166"/>
                </a:solidFill>
              </a:rPr>
              <a:t>refresh_index.py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6757416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1A284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8936" y="3063240"/>
            <a:ext cx="457200" cy="4572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848856" y="3584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MLflow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6848856" y="3886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Experiment tracking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6848856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9D"/>
                </a:solidFill>
              </a:rPr>
              <a:t>mlflow_tracking.py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Evaluation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Tested on 5 real samples — retrieval and generation metrics both strong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5087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3"/>
                </a:solidFill>
              </a:rPr>
              <a:t>Retrieval Success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6312" y="14173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99232" y="15087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0.821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87752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3"/>
                </a:solidFill>
              </a:rPr>
              <a:t>ROUGE-L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9784" y="15087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</a:rPr>
              <a:t>0.512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18304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3"/>
                </a:solidFill>
              </a:rPr>
              <a:t>BLEU-like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57416" y="14173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0336" y="1508760"/>
            <a:ext cx="914400" cy="54864"/>
          </a:xfrm>
          <a:prstGeom prst="roundRect">
            <a:avLst>
              <a:gd name="adj" fmla="val 50000"/>
            </a:avLst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0E0EF"/>
                </a:solidFill>
              </a:rPr>
              <a:t>0.65s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48856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0B3"/>
                </a:solidFill>
              </a:rPr>
              <a:t>Average Latency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3246120"/>
          <a:ext cx="841248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API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REST Endpoints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1A2840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94360" cy="329184"/>
          </a:xfrm>
          <a:prstGeom prst="roundRect">
            <a:avLst>
              <a:gd name="adj" fmla="val 13889"/>
            </a:avLst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</a:rPr>
              <a:t>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/health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Pipeline health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1A2840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31136"/>
            <a:ext cx="594360" cy="329184"/>
          </a:xfrm>
          <a:prstGeom prst="roundRect">
            <a:avLst>
              <a:gd name="adj" fmla="val 13889"/>
            </a:avLst>
          </a:prstGeom>
          <a:solidFill>
            <a:srgbClr val="FFD166">
              <a:alpha val="2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/ask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Ask a support question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267712"/>
            <a:ext cx="256032" cy="25603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2779776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1A2840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889504"/>
            <a:ext cx="594360" cy="329184"/>
          </a:xfrm>
          <a:prstGeom prst="roundRect">
            <a:avLst>
              <a:gd name="adj" fmla="val 13889"/>
            </a:avLst>
          </a:prstGeom>
          <a:solidFill>
            <a:srgbClr val="FFD166">
              <a:alpha val="2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88950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POST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234440" y="2825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/feedback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3444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Submit satisfaction rating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926080"/>
            <a:ext cx="256032" cy="2560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" y="3438144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1A2840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3547872"/>
            <a:ext cx="594360" cy="329184"/>
          </a:xfrm>
          <a:prstGeom prst="roundRect">
            <a:avLst>
              <a:gd name="adj" fmla="val 13889"/>
            </a:avLst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3547872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</a:rPr>
              <a:t>GET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23444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/metrics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234440" y="37124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Monitoring metrics JSON</a:t>
            </a:r>
            <a:endParaRPr lang="en-US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584448"/>
            <a:ext cx="256032" cy="25603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57200" y="4096512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1A2840"/>
          </a:solidFill>
          <a:ln/>
          <a:effectLst>
            <a:outerShdw sx="100000" sy="100000" kx="0" ky="0" algn="bl" rotWithShape="0" blurRad="5080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4206240"/>
            <a:ext cx="594360" cy="329184"/>
          </a:xfrm>
          <a:prstGeom prst="roundRect">
            <a:avLst>
              <a:gd name="adj" fmla="val 13889"/>
            </a:avLst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48640" y="420624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</a:rPr>
              <a:t>GET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234440" y="41422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/dashboard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23444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Live monitoring dashboard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Security Features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508760"/>
            <a:ext cx="548640" cy="5486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93776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✓  API key auth via x-api-key header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937760" y="21579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✓  Secrets stored in .env (never hardcoded)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937760" y="2670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✓  .env excluded from version control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937760" y="3182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✓  .env.example for safe config sharing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937760" y="36941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✓  Azure AD / Entra ID planned for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Cloud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GitHub → Docker → Railway → Public HTTPS API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Repo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12848" y="160020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96312" y="141732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 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60020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26864" y="141732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0A2E1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Railway Cloud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160020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57416" y="141732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62131"/>
          </a:solidFill>
          <a:ln w="6350">
            <a:solidFill>
              <a:srgbClr val="25354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57416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</a:rPr>
              <a:t>Deployment Checklist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Docker-based build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926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Public HTTPS endpoint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Health check endpoint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Environment variables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API key protected endpoints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40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✓  Monitoring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3"/>
                </a:solidFill>
              </a:rPr>
              <a:t>○  Azure App Service migration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4297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3"/>
                </a:solidFill>
              </a:rPr>
              <a:t>○  CI/CD pipeline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Business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0B3"/>
                </a:solidFill>
              </a:rPr>
              <a:t>Expected KPI improvements through intelligent support automation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1848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Response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↓ Faster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Automated answers for repeated questions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61848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 Deflection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</a:rPr>
              <a:t>↑ Higher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Less repetitive tickets reach human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1848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545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Productivity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</a:rPr>
              <a:t>↑ Better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4414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Agents focus on complex, high-value issues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01568"/>
            <a:ext cx="201168" cy="201168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328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Satisfaction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0E0EF"/>
                </a:solidFill>
              </a:rPr>
              <a:t>↑ Better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Consistent, fast answers every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401568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328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</a:rPr>
              <a:t>↓ Lower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4224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Reduced operational workload at scale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200400"/>
            <a:ext cx="2606040" cy="1572768"/>
          </a:xfrm>
          <a:prstGeom prst="roundRect">
            <a:avLst>
              <a:gd name="adj" fmla="val 5814"/>
            </a:avLst>
          </a:prstGeom>
          <a:solidFill>
            <a:srgbClr val="162131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40156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33284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 Reuse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↑ Max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4224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0B3"/>
                </a:solidFill>
              </a:rPr>
              <a:t>123K historical solutions now reusable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27432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Customer Support RAG-Powered Intelligent Chatbot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228600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62131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323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2432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Live Demo: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11880" y="24323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support-rag-chatbot-production.up.railway.app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645920" y="315468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62131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30098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31720" y="3300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GitHub Repo: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61188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github.com/karimsamer100/Customer-Support-RAG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645920" y="402336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62131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6966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31720" y="41696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Prepared By: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611880" y="4169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Karim Samer Mostafa  |  DEPI 2026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3"/>
                </a:solidFill>
              </a:rPr>
              <a:t>Instructor: Omnia Ahmed  |  Ain Shams University / University of East London  | 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Support RAG Chatbot</dc:title>
  <dc:subject>PptxGenJS Presentation</dc:subject>
  <dc:creator>Karim Samer Mostafa</dc:creator>
  <cp:lastModifiedBy>Karim Samer Mostafa</cp:lastModifiedBy>
  <cp:revision>1</cp:revision>
  <dcterms:created xsi:type="dcterms:W3CDTF">2026-06-23T18:13:14Z</dcterms:created>
  <dcterms:modified xsi:type="dcterms:W3CDTF">2026-06-23T18:13:14Z</dcterms:modified>
</cp:coreProperties>
</file>